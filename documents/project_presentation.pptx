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89" d="100"/>
          <a:sy n="89" d="100"/>
        </p:scale>
        <p:origin x="64" y="1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963B7-7C76-904C-F83D-41B0EC362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42CC80-5146-79C7-611C-CEAA41C0AF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4C07D-6AEF-5A1F-885B-BA3A3DD03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39BC4-9211-4BA2-A8A7-04A224524DB0}" type="datetimeFigureOut">
              <a:rPr lang="en-US" smtClean="0"/>
              <a:t>2026-06-09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18DB24-E7E7-ADC7-FD84-5674036BB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7CE4B7-BC45-EAC4-A30D-DB3C9A9E8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623F1-B7C6-497A-8140-366B798BA5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154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80556-A529-9A8C-F348-B5FD0CDEF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FD993-10E4-9788-0D3D-48A4269BA9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C71DAE-B05D-34EF-3147-7408D2C2B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39BC4-9211-4BA2-A8A7-04A224524DB0}" type="datetimeFigureOut">
              <a:rPr lang="en-US" smtClean="0"/>
              <a:t>2026-06-09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89B31-2565-4344-B6A1-49B990E5B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59555-AF26-6959-8804-B6B83BD8F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623F1-B7C6-497A-8140-366B798BA5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977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23060-C533-FFBE-6E74-F7C92CFC5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3327EC-1391-383C-F458-FFF7228C9A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91706E-DC89-7146-7E53-526ABC48D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39BC4-9211-4BA2-A8A7-04A224524DB0}" type="datetimeFigureOut">
              <a:rPr lang="en-US" smtClean="0"/>
              <a:t>2026-06-09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9726CD-668F-94A9-DA8C-C873967D0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CE999F-5BC2-598C-0D2F-6346BB013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623F1-B7C6-497A-8140-366B798BA5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174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DBAA6-F1F0-64F3-F6FD-3A7D49E53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54922-1CC1-5F80-C0F4-387031213F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1EE550-EE76-CEBC-EA69-D32879C6C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0A8A47-563A-BAA9-D7CB-FB3850113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39BC4-9211-4BA2-A8A7-04A224524DB0}" type="datetimeFigureOut">
              <a:rPr lang="en-US" smtClean="0"/>
              <a:t>2026-06-09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2C6C85-F924-5816-BCB7-CB40459C2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163BC0-2866-5444-C7EC-B2FC5C7B9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623F1-B7C6-497A-8140-366B798BA5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648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142C5-07FA-7366-14FB-96CD687E2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3F6892-4AB6-DE9B-4BD8-B39A49C203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3616F3-F1ED-22DA-2364-2D428BB880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296935-2EE3-6861-BB16-D2FEB4D301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0F7101-422A-3801-4D5A-1F7131F018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D62F-3A90-11CC-4888-E4BC30241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39BC4-9211-4BA2-A8A7-04A224524DB0}" type="datetimeFigureOut">
              <a:rPr lang="en-US" smtClean="0"/>
              <a:t>2026-06-09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658EE0-0318-9AB8-65CE-596A07E9F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218D47-15A3-DBD4-E106-5B7F2F0B9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623F1-B7C6-497A-8140-366B798BA5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364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7173F-DCAD-F188-91F4-18D276B13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3DA7E1-BD8D-10B3-4B6B-FD47D08A7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39BC4-9211-4BA2-A8A7-04A224524DB0}" type="datetimeFigureOut">
              <a:rPr lang="en-US" smtClean="0"/>
              <a:t>2026-06-09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29F4B3-E523-C895-A0CD-5AECC38C7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0BC7FD-728C-453D-5639-70CB7A96C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623F1-B7C6-497A-8140-366B798BA5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371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072BBF-4F96-204F-F5B9-A84226CBC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39BC4-9211-4BA2-A8A7-04A224524DB0}" type="datetimeFigureOut">
              <a:rPr lang="en-US" smtClean="0"/>
              <a:t>2026-06-09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2D416E-0FF3-965A-B21B-348CEAE59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12910B-E140-71B4-4480-DAAB92709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623F1-B7C6-497A-8140-366B798BA5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24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6AFA7-B8A0-E1A9-A271-4ECC65BE5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20FA1-3A03-76B1-BA16-C935943DB5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252C0D-CCE2-45A6-B979-672137151B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9D2390-FAE1-A54F-8679-7FBBCF92F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39BC4-9211-4BA2-A8A7-04A224524DB0}" type="datetimeFigureOut">
              <a:rPr lang="en-US" smtClean="0"/>
              <a:t>2026-06-09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D413A1-9974-135C-7722-0F8B24DC7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EFFDEB-E345-5633-7BE3-65E4F06D1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623F1-B7C6-497A-8140-366B798BA5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776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B04BD-CF7B-87CB-D3D4-B76A8EF9A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EF4788-1898-CF69-C2BE-B84F471F88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C3E861-349B-656E-AAA5-62C0C3A3B5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13E726-B6D7-8891-DB66-A583DC199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39BC4-9211-4BA2-A8A7-04A224524DB0}" type="datetimeFigureOut">
              <a:rPr lang="en-US" smtClean="0"/>
              <a:t>2026-06-09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B1F60E-B039-7384-D049-FB0D1DC39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912176-9BFA-E065-50F5-49A273568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623F1-B7C6-497A-8140-366B798BA5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700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55541-9CCC-BDE6-4B93-3EB879255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0DEC16-64E3-25F2-DAFC-EB798FB915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083FA-5520-B343-EFC6-5A2659498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39BC4-9211-4BA2-A8A7-04A224524DB0}" type="datetimeFigureOut">
              <a:rPr lang="en-US" smtClean="0"/>
              <a:t>2026-06-09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A6C996-38AC-3964-BC0F-5CCBA2A33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E6A06E-38B7-A09F-A8A7-7395A520D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623F1-B7C6-497A-8140-366B798BA5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427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8E525E-E1CD-473B-CD7C-8C38234E63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26F5B6-7F93-FEE7-C6FC-90B451DB89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E78F3-407F-F70E-5EF0-0168F06AB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39BC4-9211-4BA2-A8A7-04A224524DB0}" type="datetimeFigureOut">
              <a:rPr lang="en-US" smtClean="0"/>
              <a:t>2026-06-09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D6EFE6-5F4F-24C2-F9D7-5A230E4A4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E96A8-89F1-14DE-08EA-68382B408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623F1-B7C6-497A-8140-366B798BA5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465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1DECEB-2527-7E3A-D202-ADAAB0D20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49830A-5973-77AA-ACF6-46547CA823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D7EEB-D26A-B2F7-0914-6A5B77A293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139BC4-9211-4BA2-A8A7-04A224524DB0}" type="datetimeFigureOut">
              <a:rPr lang="en-US" smtClean="0"/>
              <a:t>2026-06-09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A55381-8AEF-DE57-7AED-F6912C39FB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5BA9E-7C12-5892-8861-6074E40463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1623F1-B7C6-497A-8140-366B798BA5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524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D455D-8226-3865-906A-7C6ACB3794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Optimization for 3D Scene Reconstruction</a:t>
            </a:r>
            <a:endParaRPr lang="en-US" sz="3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64F93C-AAC1-4EE1-AF40-5B9CB589F4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637" y="3602038"/>
            <a:ext cx="11165681" cy="1655762"/>
          </a:xfrm>
        </p:spPr>
        <p:txBody>
          <a:bodyPr>
            <a:normAutofit/>
          </a:bodyPr>
          <a:lstStyle/>
          <a:p>
            <a:r>
              <a:rPr lang="en-US" sz="1800" b="1" dirty="0">
                <a:solidFill>
                  <a:srgbClr val="C00000"/>
                </a:solidFill>
              </a:rPr>
              <a:t>A Comparative Study of Optimizers, Losses, and Representations for NeRF and 3D Gaussian Splatting</a:t>
            </a:r>
            <a:endParaRPr lang="en-US" sz="18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506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A0025-925B-0A82-7EE7-006458605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7F8633-75D6-B6E3-CB1E-23BF0F2FE6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27569" cy="4667250"/>
          </a:xfrm>
        </p:spPr>
        <p:txBody>
          <a:bodyPr>
            <a:normAutofit fontScale="92500"/>
          </a:bodyPr>
          <a:lstStyle/>
          <a:p>
            <a:r>
              <a:rPr lang="en-US" dirty="0"/>
              <a:t>This project's chosen application is </a:t>
            </a:r>
            <a:r>
              <a:rPr lang="en-US" b="1" dirty="0"/>
              <a:t>Computer Vision</a:t>
            </a:r>
            <a:r>
              <a:rPr lang="en-US" dirty="0"/>
              <a:t> (lesson 1 slides): "</a:t>
            </a:r>
            <a:r>
              <a:rPr lang="en-US" i="1" dirty="0"/>
              <a:t>segmentation, reconstruction, pose estimation, calibration and matching can be formulated as minimization of geometric or photometric error</a:t>
            </a:r>
            <a:r>
              <a:rPr lang="en-US" dirty="0"/>
              <a:t>“.</a:t>
            </a:r>
          </a:p>
          <a:p>
            <a:r>
              <a:rPr lang="en-US" dirty="0"/>
              <a:t>Our implementation uses </a:t>
            </a:r>
            <a:r>
              <a:rPr lang="en-US" b="1" dirty="0"/>
              <a:t>NeRF</a:t>
            </a:r>
            <a:r>
              <a:rPr lang="en-US" dirty="0"/>
              <a:t> and </a:t>
            </a:r>
            <a:r>
              <a:rPr lang="en-US" b="1" dirty="0"/>
              <a:t>Gaussian Splatting</a:t>
            </a:r>
            <a:r>
              <a:rPr lang="en-US" dirty="0"/>
              <a:t> as differentiable photometric reconstructions of a 3D scene from posed photographs.</a:t>
            </a:r>
          </a:p>
          <a:p>
            <a:r>
              <a:rPr lang="en-US" dirty="0"/>
              <a:t>Although the primary application is computer vision, the project approaches several other items on the assignment's list:</a:t>
            </a:r>
          </a:p>
          <a:p>
            <a:pPr lvl="1"/>
            <a:r>
              <a:rPr lang="en-US" dirty="0"/>
              <a:t>Supervised model training and DNN training (NeRF MLP)</a:t>
            </a:r>
          </a:p>
          <a:p>
            <a:pPr lvl="1"/>
            <a:r>
              <a:rPr lang="en-US" dirty="0"/>
              <a:t>SGD and its variants (optimizers)</a:t>
            </a:r>
          </a:p>
          <a:p>
            <a:pPr lvl="1"/>
            <a:r>
              <a:rPr lang="en-US" dirty="0"/>
              <a:t>Hyperparameter and Bayesian optimization (TPE/Optuna)</a:t>
            </a:r>
          </a:p>
          <a:p>
            <a:pPr lvl="1"/>
            <a:r>
              <a:rPr lang="en-US" dirty="0"/>
              <a:t>Structure-from-Motion bundle adjustment (COLMAP)</a:t>
            </a:r>
          </a:p>
        </p:txBody>
      </p:sp>
    </p:spTree>
    <p:extLst>
      <p:ext uri="{BB962C8B-B14F-4D97-AF65-F5344CB8AC3E}">
        <p14:creationId xmlns:p14="http://schemas.microsoft.com/office/powerpoint/2010/main" val="2911289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AEC76-D6E5-1475-59F8-9697D88A4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NeRF vs Gaussian Splatting (1/2)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9F901D-1A33-13E1-75B8-89770450D8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884694" cy="4546601"/>
              </a:xfrm>
            </p:spPr>
            <p:txBody>
              <a:bodyPr/>
              <a:lstStyle/>
              <a:p>
                <a:r>
                  <a:rPr lang="en-US" dirty="0"/>
                  <a:t>NeRF and GS are two different parameterizations of the same minimization problem: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ℒ</m:t>
                              </m:r>
                            </m:e>
                          </m:nary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​</m:t>
                          </m:r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d>
                                <m:d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; </m:t>
                                  </m:r>
                                  <m:sSub>
                                    <m:sSub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, </m:t>
                              </m:r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i="1" smtClean="0">
                          <a:latin typeface="Cambria Math" panose="02040503050406030204" pitchFamily="18" charset="0"/>
                        </a:rPr>
                        <m:t> 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In plain language, this equation can be translated as: “</a:t>
                </a:r>
                <a:r>
                  <a:rPr lang="en-US" b="1" i="1" dirty="0"/>
                  <a:t>Find the scene parameters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i="1" dirty="0"/>
                  <a:t>that minimize the average disagreement between the rendered image and the observed photograph, averaged across all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US" b="1" i="1" dirty="0"/>
                  <a:t> training views</a:t>
                </a:r>
                <a:r>
                  <a:rPr lang="en-US" dirty="0"/>
                  <a:t>”.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9F901D-1A33-13E1-75B8-89770450D8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884694" cy="4546601"/>
              </a:xfrm>
              <a:blipFill>
                <a:blip r:embed="rId2"/>
                <a:stretch>
                  <a:fillRect l="-1008" t="-2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2925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9C17A-3264-21C3-B158-28491B36A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NeRF vs Gaussian Splatting (2/2)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1ADEDB-6E61-8F40-C4EF-65406DCCA3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1013281" cy="4582319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Both methods solve exactly the same minimization. They differ in the parameterization of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the implementation of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Therefore, NeRF vs GS </a:t>
                </a:r>
                <a:r>
                  <a:rPr lang="en-US" b="1" dirty="0"/>
                  <a:t>is a comparison of two optimization formulations of the same problem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The data are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US" dirty="0"/>
                  <a:t> posed images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𝝅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𝑰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The objective is the average photometric loss between a rendered image and its ground truth.</a:t>
                </a:r>
              </a:p>
              <a:p>
                <a:pPr lvl="1"/>
                <a:r>
                  <a:rPr lang="en-US" dirty="0"/>
                  <a:t>The decision variable is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US" dirty="0"/>
                  <a:t>, the scene parameters.</a:t>
                </a:r>
              </a:p>
              <a:p>
                <a:pPr lvl="1"/>
                <a:r>
                  <a:rPr lang="en-US" dirty="0"/>
                  <a:t>The operator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en-US" dirty="0"/>
                  <a:t> takes the scene parameters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US"/>
                  <a:t> </a:t>
                </a:r>
                <a:r>
                  <a:rPr lang="en-US" dirty="0"/>
                  <a:t>and a </a:t>
                </a:r>
                <a:r>
                  <a:rPr lang="en-US"/>
                  <a:t>camera pose, </a:t>
                </a:r>
                <a:r>
                  <a:rPr lang="en-US" dirty="0"/>
                  <a:t>and returns the image that scene would produce from that pose.</a:t>
                </a:r>
              </a:p>
              <a:p>
                <a:pPr lvl="1"/>
                <a:r>
                  <a:rPr lang="en-US" dirty="0"/>
                  <a:t>The only requirement on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en-US" dirty="0"/>
                  <a:t> is that it be differentiable with respect to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US" dirty="0"/>
                  <a:t>, so gradients of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𝓛</m:t>
                    </m:r>
                  </m:oMath>
                </a14:m>
                <a:r>
                  <a:rPr lang="en-US" dirty="0"/>
                  <a:t> flow back into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US" dirty="0"/>
                  <a:t> and a first-order optimizer can update.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1ADEDB-6E61-8F40-C4EF-65406DCCA3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1013281" cy="4582319"/>
              </a:xfrm>
              <a:blipFill>
                <a:blip r:embed="rId2"/>
                <a:stretch>
                  <a:fillRect l="-941" t="-2926" r="-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68664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21544-421E-A3F7-7F55-09C6C7F1E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556D3-4BF0-3C08-0EEA-14321B15A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8839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7BCC7-4FF1-3D07-5134-53FC93EFF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7D735-29DE-3BC4-E96A-310A53AB2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802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319</Words>
  <Application>Microsoft Office PowerPoint</Application>
  <PresentationFormat>Widescreen</PresentationFormat>
  <Paragraphs>23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Cambria Math</vt:lpstr>
      <vt:lpstr>Office Theme</vt:lpstr>
      <vt:lpstr>Optimization for 3D Scene Reconstruction</vt:lpstr>
      <vt:lpstr>Introduction</vt:lpstr>
      <vt:lpstr>NeRF vs Gaussian Splatting (1/2)</vt:lpstr>
      <vt:lpstr>NeRF vs Gaussian Splatting (2/2)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ANTONIO CRUZ</dc:creator>
  <cp:lastModifiedBy>ANTONIO CRUZ</cp:lastModifiedBy>
  <cp:revision>22</cp:revision>
  <dcterms:created xsi:type="dcterms:W3CDTF">2026-06-09T12:16:06Z</dcterms:created>
  <dcterms:modified xsi:type="dcterms:W3CDTF">2026-06-09T14:01:10Z</dcterms:modified>
</cp:coreProperties>
</file>