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61" r:id="rId7"/>
    <p:sldId id="262" r:id="rId8"/>
    <p:sldId id="263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71" autoAdjust="0"/>
    <p:restoredTop sz="94660"/>
  </p:normalViewPr>
  <p:slideViewPr>
    <p:cSldViewPr snapToGrid="0">
      <p:cViewPr varScale="1">
        <p:scale>
          <a:sx n="92" d="100"/>
          <a:sy n="92" d="100"/>
        </p:scale>
        <p:origin x="6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963B7-7C76-904C-F83D-41B0EC362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42CC80-5146-79C7-611C-CEAA41C0A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C07D-6AEF-5A1F-885B-BA3A3DD03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8DB24-E7E7-ADC7-FD84-5674036BB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CE4B7-BC45-EAC4-A30D-DB3C9A9E8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154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80556-A529-9A8C-F348-B5FD0CDEF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931" y="365126"/>
            <a:ext cx="11322843" cy="799306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FD993-10E4-9788-0D3D-48A4269BA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31" y="1243013"/>
            <a:ext cx="11322844" cy="5307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9977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3060-C533-FFBE-6E74-F7C92CFC5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3327EC-1391-383C-F458-FFF7228C9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1706E-DC89-7146-7E53-526ABC48D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726CD-668F-94A9-DA8C-C873967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E999F-5BC2-598C-0D2F-6346BB013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4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BAA6-F1F0-64F3-F6FD-3A7D49E5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54922-1CC1-5F80-C0F4-387031213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1EE550-EE76-CEBC-EA69-D32879C6C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A8A47-563A-BAA9-D7CB-FB385011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2C6C85-F924-5816-BCB7-CB40459C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63BC0-2866-5444-C7EC-B2FC5C7B9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648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142C5-07FA-7366-14FB-96CD687E2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F6892-4AB6-DE9B-4BD8-B39A49C20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3616F3-F1ED-22DA-2364-2D428BB880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296935-2EE3-6861-BB16-D2FEB4D301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0F7101-422A-3801-4D5A-1F7131F018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D62F-3A90-11CC-4888-E4BC30241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658EE0-0318-9AB8-65CE-596A07E9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218D47-15A3-DBD4-E106-5B7F2F0B9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364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7173F-DCAD-F188-91F4-18D276B13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3DA7E1-BD8D-10B3-4B6B-FD47D08A7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9F4B3-E523-C895-A0CD-5AECC38C7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0BC7FD-728C-453D-5639-70CB7A96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371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072BBF-4F96-204F-F5B9-A84226CBC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2D416E-0FF3-965A-B21B-348CEAE59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2910B-E140-71B4-4480-DAAB9270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24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AFA7-B8A0-E1A9-A271-4ECC65BE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20FA1-3A03-76B1-BA16-C935943DB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252C0D-CCE2-45A6-B979-672137151B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9D2390-FAE1-A54F-8679-7FBBCF92F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413A1-9974-135C-7722-0F8B24DC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FFDEB-E345-5633-7BE3-65E4F06D1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76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04BD-CF7B-87CB-D3D4-B76A8EF9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F4788-1898-CF69-C2BE-B84F471F88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3E861-349B-656E-AAA5-62C0C3A3B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3E726-B6D7-8891-DB66-A583DC199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1F60E-B039-7384-D049-FB0D1DC39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912176-9BFA-E065-50F5-49A273568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00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55541-9CCC-BDE6-4B93-3EB879255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DEC16-64E3-25F2-DAFC-EB798FB9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083FA-5520-B343-EFC6-5A2659498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6C996-38AC-3964-BC0F-5CCBA2A3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6A06E-38B7-A09F-A8A7-7395A520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27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8E525E-E1CD-473B-CD7C-8C38234E6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6F5B6-7F93-FEE7-C6FC-90B451DB89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78F3-407F-F70E-5EF0-0168F06A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6EFE6-5F4F-24C2-F9D7-5A230E4A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E96A8-89F1-14DE-08EA-68382B408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6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1DECEB-2527-7E3A-D202-ADAAB0D20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212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9830A-5973-77AA-ACF6-46547CA82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10212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D7EEB-D26A-B2F7-0914-6A5B77A29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55381-8AEF-DE57-7AED-F6912C39FB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6224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5BA9E-7C12-5892-8861-6074E4046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6290" y="63554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7E9385-ADAF-1198-BD0A-2E14179C01B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6714" y="269612"/>
            <a:ext cx="2082165" cy="54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524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3.08934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epdf/10.1145/3592433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D455D-8226-3865-906A-7C6ACB379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0372" y="734675"/>
            <a:ext cx="10051255" cy="973932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Optimization for 3D Scene Reconstruction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4F93C-AAC1-4EE1-AF40-5B9CB589F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205" y="1772107"/>
            <a:ext cx="11165681" cy="826552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 Comparative Study of Optimizers, Losses, and Representations</a:t>
            </a:r>
          </a:p>
          <a:p>
            <a:r>
              <a:rPr lang="en-US" sz="2000" dirty="0">
                <a:solidFill>
                  <a:srgbClr val="C00000"/>
                </a:solidFill>
              </a:rPr>
              <a:t>for </a:t>
            </a:r>
            <a:r>
              <a:rPr lang="en-US" sz="2000" b="1" dirty="0">
                <a:solidFill>
                  <a:srgbClr val="C00000"/>
                </a:solidFill>
              </a:rPr>
              <a:t>NeRF</a:t>
            </a:r>
            <a:r>
              <a:rPr lang="en-US" sz="2000" dirty="0">
                <a:solidFill>
                  <a:srgbClr val="C00000"/>
                </a:solidFill>
              </a:rPr>
              <a:t> and </a:t>
            </a:r>
            <a:r>
              <a:rPr lang="en-US" sz="2000" b="1" dirty="0">
                <a:solidFill>
                  <a:srgbClr val="C00000"/>
                </a:solidFill>
              </a:rPr>
              <a:t>3D Gaussian Splatting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D8BB9-A56F-3CAC-589D-584CC60B0BA9}"/>
              </a:ext>
            </a:extLst>
          </p:cNvPr>
          <p:cNvSpPr txBox="1"/>
          <p:nvPr/>
        </p:nvSpPr>
        <p:spPr>
          <a:xfrm>
            <a:off x="4287215" y="6441947"/>
            <a:ext cx="3690715" cy="285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ts val="16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António Cruz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(140129), </a:t>
            </a: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Duarte Cabrita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(120058)</a:t>
            </a:r>
            <a:endParaRPr lang="en-US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ABF03-F305-B872-C410-E7C51EBD8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159" y="2722482"/>
            <a:ext cx="1236307" cy="35028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66F03AE-C45A-1058-7F7C-247F78CF3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98" y="3248891"/>
            <a:ext cx="3167943" cy="25882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B0073A-4B4D-F235-414D-95FE2CADF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22" y="3276113"/>
            <a:ext cx="2655445" cy="298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06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0025-925B-0A82-7EE7-00645860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F8633-75D6-B6E3-CB1E-23BF0F2FE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0439" cy="483235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This project’s chosen application is </a:t>
            </a:r>
            <a:r>
              <a:rPr lang="en-US" b="1" dirty="0"/>
              <a:t>Computer Vision</a:t>
            </a:r>
            <a:r>
              <a:rPr lang="en-US" dirty="0"/>
              <a:t> (from Lesson 1 slides): "</a:t>
            </a:r>
            <a:r>
              <a:rPr lang="en-US" i="1" dirty="0"/>
              <a:t>segmentation, reconstruction, pose estimation, calibration and matching can be formulated as minimization of geometric or photometric error</a:t>
            </a:r>
            <a:r>
              <a:rPr lang="en-US" dirty="0"/>
              <a:t>“.</a:t>
            </a:r>
          </a:p>
          <a:p>
            <a:pPr>
              <a:lnSpc>
                <a:spcPct val="100000"/>
              </a:lnSpc>
            </a:pPr>
            <a:r>
              <a:rPr lang="en-US" dirty="0"/>
              <a:t>Our implementation uses </a:t>
            </a:r>
            <a:r>
              <a:rPr lang="en-US" b="1" dirty="0"/>
              <a:t>NeRF</a:t>
            </a:r>
            <a:r>
              <a:rPr lang="en-US" dirty="0"/>
              <a:t> and </a:t>
            </a:r>
            <a:r>
              <a:rPr lang="en-US" b="1" dirty="0"/>
              <a:t>Gaussian Splatting</a:t>
            </a:r>
            <a:r>
              <a:rPr lang="en-US" dirty="0"/>
              <a:t> as differentiable photometric reconstructions of a 3D scene from posed photographs.</a:t>
            </a:r>
          </a:p>
          <a:p>
            <a:pPr>
              <a:lnSpc>
                <a:spcPct val="100000"/>
              </a:lnSpc>
            </a:pPr>
            <a:r>
              <a:rPr lang="en-US" dirty="0"/>
              <a:t>Although the primary application is computer vision, the project approaches several other items on the assignment's list: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Supervised model training and DNN training (NeRF MLP)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SGD and its variants (optimizers)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Hyperparameter and Bayesian optimization (TPE/Optuna)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Structure-from-Motion bundle adjustment (COLMAP)</a:t>
            </a:r>
          </a:p>
        </p:txBody>
      </p:sp>
    </p:spTree>
    <p:extLst>
      <p:ext uri="{BB962C8B-B14F-4D97-AF65-F5344CB8AC3E}">
        <p14:creationId xmlns:p14="http://schemas.microsoft.com/office/powerpoint/2010/main" val="2911289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EC76-D6E5-1475-59F8-9697D88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(1/2)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884694" cy="4875214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NeRF and GS are two different parameterizations of the same minimization problem: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</m:nary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​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; 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 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sz="2400" dirty="0"/>
                  <a:t>In plain language, this equation can be translated as: “</a:t>
                </a:r>
                <a:r>
                  <a:rPr lang="en-US" sz="2400" b="1" i="1" dirty="0"/>
                  <a:t>Find the scene parameters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 i="1" dirty="0"/>
                  <a:t>that minimize the average disagreement between the rendered image and the observed photograph, averaged across all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b="1" i="1" dirty="0"/>
                  <a:t> training views</a:t>
                </a:r>
                <a:r>
                  <a:rPr lang="en-US" sz="2400" dirty="0"/>
                  <a:t>”.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000" dirty="0"/>
                  <a:t> is a camera pose (position and orientation).</a:t>
                </a:r>
                <a:endParaRPr lang="en-US" sz="2000" b="1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000" dirty="0"/>
                  <a:t> is the training image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000" dirty="0"/>
                  <a:t>, together with the pose of the camera that captured it.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𝑹</m:t>
                    </m:r>
                    <m:d>
                      <m:d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; </m:t>
                        </m:r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is the rendering operator, using the current scene parameters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sz="2000" dirty="0"/>
                  <a:t>, asked to render </a:t>
                </a:r>
                <a:r>
                  <a:rPr lang="en-US" sz="2000" i="1" dirty="0"/>
                  <a:t>what the scene would look like from camera pose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</a:p>
              <a:p>
                <a:pPr lvl="1">
                  <a:lnSpc>
                    <a:spcPct val="100000"/>
                  </a:lnSpc>
                </a:pPr>
                <a:endParaRPr lang="en-US" sz="2000" dirty="0"/>
              </a:p>
              <a:p>
                <a:pPr lvl="1">
                  <a:lnSpc>
                    <a:spcPct val="100000"/>
                  </a:lnSpc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884694" cy="4875214"/>
              </a:xfrm>
              <a:blipFill>
                <a:blip r:embed="rId2"/>
                <a:stretch>
                  <a:fillRect l="-1008" t="-2125" b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9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10E5F-AA02-FF09-38AC-558DFE931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(Neural Radiance Fields)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442EC-01CD-AEFC-242D-216F0443E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31" y="1164432"/>
            <a:ext cx="11322843" cy="532844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A scene reconstruction method that represents a 3D scene as a </a:t>
            </a:r>
            <a:r>
              <a:rPr lang="en-US" b="1" dirty="0"/>
              <a:t>small multi-layer perceptron</a:t>
            </a:r>
            <a:r>
              <a:rPr lang="en-US" dirty="0"/>
              <a:t> mapping any 3D point and viewing direction to a density and color.</a:t>
            </a:r>
          </a:p>
          <a:p>
            <a:pPr>
              <a:lnSpc>
                <a:spcPct val="100000"/>
              </a:lnSpc>
            </a:pPr>
            <a:r>
              <a:rPr lang="en-US" dirty="0"/>
              <a:t>The scene parameters are the MLP weights, and they are </a:t>
            </a:r>
            <a:r>
              <a:rPr lang="en-US" b="1" dirty="0"/>
              <a:t>fitted by gradient descent through a differentiable volume-rendering operator</a:t>
            </a:r>
            <a:r>
              <a:rPr lang="en-US" dirty="0"/>
              <a:t> that composites samples along each pixel ray into the final image.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18127E-EC76-C261-5C7F-1CF6837F6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83" y="4039908"/>
            <a:ext cx="10907500" cy="25323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E4E0F0-D120-B374-986F-C4D45ECE0243}"/>
              </a:ext>
            </a:extLst>
          </p:cNvPr>
          <p:cNvSpPr txBox="1"/>
          <p:nvPr/>
        </p:nvSpPr>
        <p:spPr>
          <a:xfrm>
            <a:off x="9444037" y="6515098"/>
            <a:ext cx="217069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hlinkClick r:id="rId3"/>
              </a:rPr>
              <a:t>https://arxiv.org/pdf/2003.08934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9136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63E8B-9E8F-886F-2EFE-718087FC5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Gaussian Splatting (3DGS)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16F1-B8BB-0B18-645C-232DE03DE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1594"/>
            <a:ext cx="10834689" cy="332184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A scene reconstruction method that represents a 3D scene as an explicit </a:t>
            </a:r>
            <a:r>
              <a:rPr lang="en-US" b="1" dirty="0"/>
              <a:t>collection of 3D Gaussian primitives</a:t>
            </a:r>
            <a:r>
              <a:rPr lang="en-US" dirty="0"/>
              <a:t>, each carrying a position, scale, rotation, opacity, and color.</a:t>
            </a:r>
          </a:p>
          <a:p>
            <a:pPr>
              <a:lnSpc>
                <a:spcPct val="100000"/>
              </a:lnSpc>
            </a:pPr>
            <a:r>
              <a:rPr lang="en-US" dirty="0"/>
              <a:t>The scene parameters are the per-Gaussian tuples, and they are </a:t>
            </a:r>
            <a:r>
              <a:rPr lang="en-US" b="1" dirty="0"/>
              <a:t>fitted by gradient descent through a differentiable tile-based rasterizer</a:t>
            </a:r>
            <a:r>
              <a:rPr lang="en-US" dirty="0"/>
              <a:t> that projects and alpha-composites the primitives into the final image.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42AB63-1F7A-DCCE-16DB-2FDC099BB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3" y="4480923"/>
            <a:ext cx="10508457" cy="19470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3FF721-232F-8310-2F48-6B0515790F23}"/>
              </a:ext>
            </a:extLst>
          </p:cNvPr>
          <p:cNvSpPr txBox="1"/>
          <p:nvPr/>
        </p:nvSpPr>
        <p:spPr>
          <a:xfrm>
            <a:off x="866775" y="6428005"/>
            <a:ext cx="2787848" cy="244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hlinkClick r:id="rId3"/>
              </a:rPr>
              <a:t>https://dl.acm.org/doi/epdf/10.1145/3592433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1477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9C17A-3264-21C3-B158-28491B36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(2/2)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Both methods solve exactly the same minimization. They differ in the parameterization of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the implementation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Therefore, NeRF vs GS </a:t>
                </a:r>
                <a:r>
                  <a:rPr lang="en-US" b="1" dirty="0"/>
                  <a:t>is a comparison of two optimization formulations of the same problem</a:t>
                </a:r>
                <a:r>
                  <a:rPr lang="en-US" dirty="0"/>
                  <a:t>: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data are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posed images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objective is the average photometric loss between a rendered image and its ground truth.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decision variable is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the scene parameters.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takes the scene parameters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camera pose, and returns the image that scene would produce from that pose.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only requirement 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is that it be differentiable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so gradients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dirty="0"/>
                  <a:t> flow back into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first-order optimizer can update.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  <a:blipFill>
                <a:blip r:embed="rId2"/>
                <a:stretch>
                  <a:fillRect l="-830" t="-1141" r="-1051" b="-2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6866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C49FB7-E860-8C23-9933-52A219E7B3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Rendering Operator (1/2)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C49FB7-E860-8C23-9933-52A219E7B3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6794" b="-30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29CD49-E0CE-BAA1-92A0-3376B980C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942121" cy="46672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For </a:t>
                </a:r>
                <a:r>
                  <a:rPr lang="en-US" b="1" dirty="0"/>
                  <a:t>NeRF</a:t>
                </a:r>
                <a:r>
                  <a:rPr lang="en-US" dirty="0"/>
                  <a:t>, the rendering operator is the </a:t>
                </a:r>
                <a:r>
                  <a:rPr lang="en-US" b="1" dirty="0"/>
                  <a:t>volume-rendering pipeline</a:t>
                </a:r>
                <a:r>
                  <a:rPr lang="en-US" dirty="0"/>
                  <a:t>. Inside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following happens for each output pixel: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Cast a ray from the camera through that pixel into the scene.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Sample many 3D points along that ray.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At each sample point, query the MLP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</m:oMath>
                </a14:m>
                <a:r>
                  <a:rPr lang="en-US" dirty="0"/>
                  <a:t> to get a density and an RGB color at that 3D location.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Combine those samples using the volume-rendering integral (a weighted sum that says "</a:t>
                </a:r>
                <a:r>
                  <a:rPr lang="en-US" i="1" dirty="0"/>
                  <a:t>the closer to the camera and the more opaque, the more this sample contributes to the final pixel</a:t>
                </a:r>
                <a:r>
                  <a:rPr lang="en-US" dirty="0"/>
                  <a:t>").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Out pops one pixel color.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29CD49-E0CE-BAA1-92A0-3376B980C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942121" cy="4667250"/>
              </a:xfrm>
              <a:blipFill>
                <a:blip r:embed="rId3"/>
                <a:stretch>
                  <a:fillRect l="-947" t="-1305" r="-1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076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C28AD-A325-026E-9DF2-3428E122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57528D8-897C-6DD2-9FD8-4FCD63109D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Rendering Operator (2/2)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57528D8-897C-6DD2-9FD8-4FCD63109D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6794" b="-30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5F3940-DE7A-D23A-DDCB-31154BC2F0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942121" cy="4775200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For </a:t>
                </a:r>
                <a:r>
                  <a:rPr lang="en-US" b="1" dirty="0"/>
                  <a:t>Gaussian Splatting</a:t>
                </a:r>
                <a:r>
                  <a:rPr lang="en-US" dirty="0"/>
                  <a:t>, the rendering operator is the </a:t>
                </a:r>
                <a:r>
                  <a:rPr lang="en-US" b="1" dirty="0"/>
                  <a:t>tile-based rasterizer</a:t>
                </a:r>
                <a:r>
                  <a:rPr lang="en-US" dirty="0"/>
                  <a:t>. Inside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following happens: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Take each Gaussian's 3D position, scale, and rotation, and project it onto the 2D image plane using the camera pose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. The result is a 2D Gaussian on the image.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Split the image into small tiles (e.g. 16x16 pixels). For each tile, find which projected Gaussians touch it.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Within each tile, sort those Gaussians by depth (front to back).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For each pixel in the tile, alpha-composite the Gaussians that touch it: blend their colors weighted by opacity, front to back, until the pixel is fully opaque or the Gaussians run out.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Out pops one pixel color.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5F3940-DE7A-D23A-DDCB-31154BC2F0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942121" cy="4775200"/>
              </a:xfrm>
              <a:blipFill>
                <a:blip r:embed="rId3"/>
                <a:stretch>
                  <a:fillRect l="-947" t="-1276" r="-1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7689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21544-421E-A3F7-7F55-09C6C7F1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556D3-4BF0-3C08-0EEA-14321B1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27556" cy="466725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ts val="2640"/>
              </a:lnSpc>
            </a:pPr>
            <a:r>
              <a:rPr lang="en-US" b="1" dirty="0"/>
              <a:t>SGD</a:t>
            </a:r>
            <a:r>
              <a:rPr lang="en-US" dirty="0"/>
              <a:t> - Step in the direction of the negative gradient, with a fixed learning rate (simplest possible recipe).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momentum</a:t>
            </a:r>
            <a:r>
              <a:rPr lang="en-US" dirty="0"/>
              <a:t> - Keep a running average of past gradients and step in that smoothed direction, which dampens noise and accelerates along consistent descent directions.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Nesterov</a:t>
            </a:r>
            <a:r>
              <a:rPr lang="en-US" dirty="0"/>
              <a:t> - A variant of momentum that "looks ahead" before taking the step, giving slightly better convergence on convex problems.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</a:t>
            </a:r>
            <a:r>
              <a:rPr lang="en-US" dirty="0"/>
              <a:t> - Keep a running average of past gradients </a:t>
            </a:r>
            <a:r>
              <a:rPr lang="en-US" i="1" dirty="0"/>
              <a:t>and</a:t>
            </a:r>
            <a:r>
              <a:rPr lang="en-US" dirty="0"/>
              <a:t> a running average of past squared gradients, then divide the smoothed gradient by the smoothed magnitude. The effect is a per-parameter adaptive learning rate.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AdamW</a:t>
            </a:r>
            <a:r>
              <a:rPr lang="en-US" dirty="0"/>
              <a:t>: Same as Adam, but with weight decay applied as a separate term outside the adaptive scaling, which fixes a subtle interaction in the original Adam formulation.</a:t>
            </a:r>
          </a:p>
        </p:txBody>
      </p:sp>
    </p:spTree>
    <p:extLst>
      <p:ext uri="{BB962C8B-B14F-4D97-AF65-F5344CB8AC3E}">
        <p14:creationId xmlns:p14="http://schemas.microsoft.com/office/powerpoint/2010/main" val="3673883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BCC7-4FF1-3D07-5134-53FC93EF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7D735-29DE-3BC4-E96A-310A53AB2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802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945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Optimization for 3D Scene Reconstruction</vt:lpstr>
      <vt:lpstr>Introduction</vt:lpstr>
      <vt:lpstr>NeRF vs Gaussian Splatting (1/2)</vt:lpstr>
      <vt:lpstr>NeRF (Neural Radiance Fields)</vt:lpstr>
      <vt:lpstr>3D Gaussian Splatting (3DGS)</vt:lpstr>
      <vt:lpstr>NeRF vs Gaussian Splatting (2/2)</vt:lpstr>
      <vt:lpstr>R, The Rendering Operator (1/2)</vt:lpstr>
      <vt:lpstr>R, The Rendering Operator (2/2)</vt:lpstr>
      <vt:lpstr>Optimizers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CRUZ</dc:creator>
  <cp:lastModifiedBy>ANTONIO CRUZ</cp:lastModifiedBy>
  <cp:revision>88</cp:revision>
  <dcterms:created xsi:type="dcterms:W3CDTF">2026-06-09T12:16:06Z</dcterms:created>
  <dcterms:modified xsi:type="dcterms:W3CDTF">2026-06-10T11:35:48Z</dcterms:modified>
</cp:coreProperties>
</file>